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62" r:id="rId9"/>
    <p:sldId id="291" r:id="rId10"/>
    <p:sldId id="264" r:id="rId11"/>
    <p:sldId id="277"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73458313"/>
              </p:ext>
            </p:extLst>
          </p:nvPr>
        </p:nvGraphicFramePr>
        <p:xfrm>
          <a:off x="1299257" y="2600315"/>
          <a:ext cx="9636968" cy="2167128"/>
        </p:xfrm>
        <a:graphic>
          <a:graphicData uri="http://schemas.openxmlformats.org/drawingml/2006/table">
            <a:tbl>
              <a:tblPr>
                <a:noFill/>
                <a:tableStyleId>{0AAD8F4D-43EB-41E5-8A38-28AB6DFB1B60}</a:tableStyleId>
              </a:tblPr>
              <a:tblGrid>
                <a:gridCol w="2118050">
                  <a:extLst>
                    <a:ext uri="{9D8B030D-6E8A-4147-A177-3AD203B41FA5}">
                      <a16:colId xmlns:a16="http://schemas.microsoft.com/office/drawing/2014/main" val="20000"/>
                    </a:ext>
                  </a:extLst>
                </a:gridCol>
                <a:gridCol w="2306837">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gridCol w="2423161">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GUDIVADA  PRASAD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gudivadaprasad95@gmail.com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8712128104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53024" y="3754284"/>
            <a:ext cx="762500" cy="770077"/>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IN" sz="2400" b="1" dirty="0">
                <a:highlight>
                  <a:srgbClr val="FFFF00"/>
                </a:highlight>
              </a:rPr>
              <a:t>Students today face an overwhelming flood of information</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highlight>
                  <a:srgbClr val="FFFF00"/>
                </a:highlight>
              </a:rPr>
              <a:t>Smart Study Generator Agent</a:t>
            </a:r>
            <a:endParaRPr lang="en-IN" sz="2400"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 </a:t>
            </a:r>
            <a:r>
              <a:rPr lang="en-IN" b="1" dirty="0"/>
              <a:t>Smart Study Generator Agent</a:t>
            </a:r>
            <a:endParaRPr lang="en-US" dirty="0"/>
          </a:p>
          <a:p>
            <a:pPr fontAlgn="base"/>
            <a:endParaRPr lang="en-US" b="1" dirty="0"/>
          </a:p>
          <a:p>
            <a:r>
              <a:rPr lang="en-IN" b="1" dirty="0"/>
              <a:t>The Challenge</a:t>
            </a:r>
            <a:endParaRPr lang="en-IN" dirty="0"/>
          </a:p>
          <a:p>
            <a:r>
              <a:rPr lang="en-IN"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endParaRPr lang="en-IN" dirty="0"/>
          </a:p>
          <a:p>
            <a:r>
              <a:rPr lang="en-IN" b="1" dirty="0"/>
              <a:t>The Objective</a:t>
            </a:r>
            <a:endParaRPr lang="en-IN" dirty="0"/>
          </a:p>
          <a:p>
            <a:r>
              <a:rPr lang="en-IN" dirty="0"/>
              <a:t>Build an agentic AI-powered Smart Study Generator that personalizes and streamlines learning for students. The solution should:</a:t>
            </a:r>
          </a:p>
          <a:p>
            <a:pPr lvl="0"/>
            <a:r>
              <a:rPr lang="en-IN" b="1" dirty="0"/>
              <a:t>Fuse Learning Resources: </a:t>
            </a:r>
            <a:r>
              <a:rPr lang="en-IN" dirty="0"/>
              <a:t>Aggregate content from class notes, textbooks, research articles, and online tutorials into structured, easy-to-digest study material.</a:t>
            </a:r>
          </a:p>
          <a:p>
            <a:pPr lvl="0"/>
            <a:r>
              <a:rPr lang="en-IN" b="1" dirty="0"/>
              <a:t>Enable Multimodal Input:</a:t>
            </a:r>
            <a:r>
              <a:rPr lang="en-IN" dirty="0"/>
              <a:t> Allow students to upload notes, voice queries, or images (e.g., textbook pages), and generate concise summaries, flashcards, or concept maps.</a:t>
            </a:r>
          </a:p>
          <a:p>
            <a:pPr lvl="0"/>
            <a:r>
              <a:rPr lang="en-IN" b="1" dirty="0"/>
              <a:t>Create a Predictive &amp; Agentic Layer:</a:t>
            </a:r>
            <a:r>
              <a:rPr lang="en-IN" dirty="0"/>
              <a:t> Recommend personalized study plans, highlight important topics based on syllabus or past exams, and provide predictive alerts (e.g., “Focus on Topic X—frequently asked in exams”).</a:t>
            </a:r>
          </a:p>
          <a:p>
            <a:pPr lvl="0"/>
            <a:r>
              <a:rPr lang="en-IN" b="1" dirty="0"/>
              <a:t>Visualize Study Progress:</a:t>
            </a:r>
            <a:r>
              <a:rPr lang="en-IN" dirty="0"/>
              <a:t> Offer a real-time dashboard showing learning milestones, weak areas, practice quizzes, and performance forecasts.</a:t>
            </a: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endParaRPr lang="en-US" b="1" dirty="0"/>
          </a:p>
          <a:p>
            <a:r>
              <a:rPr lang="en-US" b="1" dirty="0"/>
              <a:t>Proposed Solution: </a:t>
            </a:r>
            <a:r>
              <a:rPr lang="en-IN" b="1" dirty="0"/>
              <a:t>Smart Study Generator Agent</a:t>
            </a:r>
            <a:endParaRPr lang="en-US" b="1" dirty="0"/>
          </a:p>
          <a:p>
            <a:r>
              <a:rPr lang="en-IN" b="1" dirty="0"/>
              <a:t>System Overview</a:t>
            </a:r>
            <a:endParaRPr lang="en-IN" dirty="0"/>
          </a:p>
          <a:p>
            <a:r>
              <a:rPr lang="en-IN" dirty="0"/>
              <a:t>The Smart Study Generator Agent is an AI-powered, multi-modal study companion built with </a:t>
            </a:r>
            <a:r>
              <a:rPr lang="en-IN" b="1" dirty="0" err="1"/>
              <a:t>Streamlit</a:t>
            </a:r>
            <a:r>
              <a:rPr lang="en-IN" dirty="0"/>
              <a:t> and </a:t>
            </a:r>
            <a:r>
              <a:rPr lang="en-IN" b="1" dirty="0"/>
              <a:t>IBM watsonx.ai</a:t>
            </a:r>
            <a:r>
              <a:rPr lang="en-IN" dirty="0"/>
              <a:t>, using </a:t>
            </a:r>
            <a:r>
              <a:rPr lang="en-IN" b="1" dirty="0"/>
              <a:t>Meta Llama 3.3 70B Instruct</a:t>
            </a:r>
            <a:r>
              <a:rPr lang="en-IN" dirty="0"/>
              <a:t> as its foundation model. Students upload their study material in any form — PDF, DOCX, plain text, image (via OCR), or voice recording — through the study_material.py ingestion page. That raw content is then passed to the granite_ai.py module, which drives six distinct AI-generation pipelines: smart summarisation (four styles — concise, detailed, ELI5, and exam-ready), flashcard generation (structured Q&amp;A JSON), multiple-choice quiz generation with difficulty levels, concept map extraction, a personalised study plan builder, and topic-aware exam prediction alerts. All model calls are made via the </a:t>
            </a:r>
            <a:r>
              <a:rPr lang="en-IN" dirty="0" err="1"/>
              <a:t>ibm</a:t>
            </a:r>
            <a:r>
              <a:rPr lang="en-IN" dirty="0"/>
              <a:t>-</a:t>
            </a:r>
            <a:r>
              <a:rPr lang="en-IN" dirty="0" err="1"/>
              <a:t>watsonx</a:t>
            </a:r>
            <a:r>
              <a:rPr lang="en-IN" dirty="0"/>
              <a:t>-ai SDK with parameter-level control over temperature, top-p, and token limits, and the model client is cached with @st.cache_resource to avoid redundant initialisation across </a:t>
            </a:r>
            <a:r>
              <a:rPr lang="en-IN" dirty="0" err="1"/>
              <a:t>Streamlit</a:t>
            </a:r>
            <a:r>
              <a:rPr lang="en-IN" dirty="0"/>
              <a:t> reruns.</a:t>
            </a:r>
          </a:p>
          <a:p>
            <a:r>
              <a:rPr lang="en-IN" b="1" dirty="0"/>
              <a:t>User Experience &amp; Architecture</a:t>
            </a:r>
            <a:endParaRPr lang="en-IN" dirty="0"/>
          </a:p>
          <a:p>
            <a:r>
              <a:rPr lang="en-IN" dirty="0"/>
              <a:t>The application is structured as a single-file </a:t>
            </a:r>
            <a:r>
              <a:rPr lang="en-IN" dirty="0" err="1"/>
              <a:t>Streamlit</a:t>
            </a:r>
            <a:r>
              <a:rPr lang="en-IN" dirty="0"/>
              <a:t> router (app.py) that dispatches to eight page modules — Home, Study Material, Flashcards, Quiz, Concept Map, Study Plan, Ask Tutor, and Dashboard — each rendered independently under a shared dark-themed CSS design system. Students navigate through a persistent sidebar that also surfaces live quick-stats (cards reviewed, quizzes taken, streak, and average score) pulled from session state via utils.py. The </a:t>
            </a:r>
            <a:r>
              <a:rPr lang="en-IN" b="1" dirty="0"/>
              <a:t>Ask Tutor</a:t>
            </a:r>
            <a:r>
              <a:rPr lang="en-IN" dirty="0"/>
              <a:t> page provides a conversational AI interface where students can ask free-form questions with their uploaded material as grounding context, while the </a:t>
            </a:r>
            <a:r>
              <a:rPr lang="en-IN" b="1" dirty="0"/>
              <a:t>Dashboard</a:t>
            </a:r>
            <a:r>
              <a:rPr lang="en-IN" dirty="0"/>
              <a:t> aggregates quiz scores, study time, and progress trends using </a:t>
            </a:r>
            <a:r>
              <a:rPr lang="en-IN" dirty="0" err="1"/>
              <a:t>plotly</a:t>
            </a:r>
            <a:r>
              <a:rPr lang="en-IN" dirty="0"/>
              <a:t> charts. The stack is intentionally lightweight — no database, no backend server — making it fully deployable on </a:t>
            </a:r>
            <a:r>
              <a:rPr lang="en-IN" b="1" dirty="0" err="1"/>
              <a:t>Streamlit</a:t>
            </a:r>
            <a:r>
              <a:rPr lang="en-IN" b="1" dirty="0"/>
              <a:t> Community Cloud</a:t>
            </a:r>
            <a:r>
              <a:rPr lang="en-IN" dirty="0"/>
              <a:t> with nothing but a requirements.txt and valid IBM watsonx.ai credentials.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FAA3E724-9BBE-A511-858C-627B54ACDDC0}"/>
              </a:ext>
            </a:extLst>
          </p:cNvPr>
          <p:cNvPicPr>
            <a:picLocks noChangeAspect="1"/>
          </p:cNvPicPr>
          <p:nvPr/>
        </p:nvPicPr>
        <p:blipFill>
          <a:blip r:embed="rId3"/>
          <a:stretch>
            <a:fillRect/>
          </a:stretch>
        </p:blipFill>
        <p:spPr>
          <a:xfrm>
            <a:off x="668477" y="1106424"/>
            <a:ext cx="10679227" cy="5129784"/>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Required Files created using IBM bob -</a:t>
            </a:r>
            <a:endParaRPr sz="2400" b="1" dirty="0">
              <a:sym typeface="Times New Roman"/>
            </a:endParaRPr>
          </a:p>
        </p:txBody>
      </p:sp>
      <p:pic>
        <p:nvPicPr>
          <p:cNvPr id="5" name="Picture 4">
            <a:extLst>
              <a:ext uri="{FF2B5EF4-FFF2-40B4-BE49-F238E27FC236}">
                <a16:creationId xmlns:a16="http://schemas.microsoft.com/office/drawing/2014/main" id="{9CBC5235-3362-2E6D-49B1-AA1BD4D2431E}"/>
              </a:ext>
            </a:extLst>
          </p:cNvPr>
          <p:cNvPicPr>
            <a:picLocks noChangeAspect="1"/>
          </p:cNvPicPr>
          <p:nvPr/>
        </p:nvPicPr>
        <p:blipFill>
          <a:blip r:embed="rId3"/>
          <a:stretch>
            <a:fillRect/>
          </a:stretch>
        </p:blipFill>
        <p:spPr>
          <a:xfrm>
            <a:off x="636768" y="1120140"/>
            <a:ext cx="10738367" cy="508863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4" name="Picture 3">
            <a:extLst>
              <a:ext uri="{FF2B5EF4-FFF2-40B4-BE49-F238E27FC236}">
                <a16:creationId xmlns:a16="http://schemas.microsoft.com/office/drawing/2014/main" id="{05603A1A-2088-FBE0-E224-409CEEA8EAAF}"/>
              </a:ext>
            </a:extLst>
          </p:cNvPr>
          <p:cNvPicPr>
            <a:picLocks noChangeAspect="1"/>
          </p:cNvPicPr>
          <p:nvPr/>
        </p:nvPicPr>
        <p:blipFill>
          <a:blip r:embed="rId3"/>
          <a:stretch>
            <a:fillRect/>
          </a:stretch>
        </p:blipFill>
        <p:spPr>
          <a:xfrm>
            <a:off x="537590" y="712234"/>
            <a:ext cx="10764393" cy="55514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94AED5-9AA8-1E86-4469-737C57A5B1DD}"/>
              </a:ext>
            </a:extLst>
          </p:cNvPr>
          <p:cNvPicPr>
            <a:picLocks noChangeAspect="1"/>
          </p:cNvPicPr>
          <p:nvPr/>
        </p:nvPicPr>
        <p:blipFill>
          <a:blip r:embed="rId2"/>
          <a:stretch>
            <a:fillRect/>
          </a:stretch>
        </p:blipFill>
        <p:spPr>
          <a:xfrm>
            <a:off x="301752" y="304481"/>
            <a:ext cx="11338560" cy="6249037"/>
          </a:xfrm>
          <a:prstGeom prst="rect">
            <a:avLst/>
          </a:prstGeom>
        </p:spPr>
      </p:pic>
      <p:pic>
        <p:nvPicPr>
          <p:cNvPr id="4" name="Picture 3">
            <a:extLst>
              <a:ext uri="{FF2B5EF4-FFF2-40B4-BE49-F238E27FC236}">
                <a16:creationId xmlns:a16="http://schemas.microsoft.com/office/drawing/2014/main" id="{7DDC5C4A-4B0C-DB55-037F-213784FBBFEE}"/>
              </a:ext>
            </a:extLst>
          </p:cNvPr>
          <p:cNvPicPr>
            <a:picLocks noChangeAspect="1"/>
          </p:cNvPicPr>
          <p:nvPr/>
        </p:nvPicPr>
        <p:blipFill>
          <a:blip r:embed="rId3"/>
          <a:stretch>
            <a:fillRect/>
          </a:stretch>
        </p:blipFill>
        <p:spPr>
          <a:xfrm>
            <a:off x="0" y="237428"/>
            <a:ext cx="12192000" cy="638314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22F72130-5689-6383-4A47-356246D47E7F}"/>
              </a:ext>
            </a:extLst>
          </p:cNvPr>
          <p:cNvPicPr>
            <a:picLocks noChangeAspect="1"/>
          </p:cNvPicPr>
          <p:nvPr/>
        </p:nvPicPr>
        <p:blipFill>
          <a:blip r:embed="rId4"/>
          <a:stretch>
            <a:fillRect/>
          </a:stretch>
        </p:blipFill>
        <p:spPr>
          <a:xfrm>
            <a:off x="5588431" y="2494205"/>
            <a:ext cx="6070170" cy="2816887"/>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0B4DF24B-BC28-D059-7C1F-0DA8A8240A7D}"/>
              </a:ext>
            </a:extLst>
          </p:cNvPr>
          <p:cNvPicPr>
            <a:picLocks noChangeAspect="1"/>
          </p:cNvPicPr>
          <p:nvPr/>
        </p:nvPicPr>
        <p:blipFill>
          <a:blip r:embed="rId3"/>
          <a:stretch>
            <a:fillRect/>
          </a:stretch>
        </p:blipFill>
        <p:spPr>
          <a:xfrm>
            <a:off x="246888" y="816977"/>
            <a:ext cx="11439144" cy="573429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53D0AFF7-4C8A-06F2-8795-A76A95AFCF5F}"/>
              </a:ext>
            </a:extLst>
          </p:cNvPr>
          <p:cNvPicPr>
            <a:picLocks noChangeAspect="1"/>
          </p:cNvPicPr>
          <p:nvPr/>
        </p:nvPicPr>
        <p:blipFill>
          <a:blip r:embed="rId3"/>
          <a:stretch>
            <a:fillRect/>
          </a:stretch>
        </p:blipFill>
        <p:spPr>
          <a:xfrm>
            <a:off x="502920" y="816977"/>
            <a:ext cx="11137392" cy="558382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3AAF61EB-F4DC-2377-933A-C3F710D90B08}"/>
              </a:ext>
            </a:extLst>
          </p:cNvPr>
          <p:cNvPicPr>
            <a:picLocks noChangeAspect="1"/>
          </p:cNvPicPr>
          <p:nvPr/>
        </p:nvPicPr>
        <p:blipFill>
          <a:blip r:embed="rId3"/>
          <a:stretch>
            <a:fillRect/>
          </a:stretch>
        </p:blipFill>
        <p:spPr>
          <a:xfrm>
            <a:off x="475488" y="743825"/>
            <a:ext cx="11307368" cy="570522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605</TotalTime>
  <Words>1479</Words>
  <Application>Microsoft Office PowerPoint</Application>
  <PresentationFormat>Widescreen</PresentationFormat>
  <Paragraphs>114</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Prasad Gudivada</cp:lastModifiedBy>
  <cp:revision>11</cp:revision>
  <dcterms:created xsi:type="dcterms:W3CDTF">2025-07-08T05:06:56Z</dcterms:created>
  <dcterms:modified xsi:type="dcterms:W3CDTF">2026-10-17T17:07:23Z</dcterms:modified>
</cp:coreProperties>
</file>